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23C-4CC2-B7C7-0CC2DC2A199E}"/>
              </c:ext>
            </c:extLst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3C-4CC2-B7C7-0CC2DC2A199E}"/>
              </c:ext>
            </c:extLst>
          </c:dPt>
          <c:dPt>
            <c:idx val="2"/>
            <c:invertIfNegative val="0"/>
            <c:bubble3D val="0"/>
            <c:spPr>
              <a:solidFill>
                <a:srgbClr val="FFB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23C-4CC2-B7C7-0CC2DC2A199E}"/>
              </c:ext>
            </c:extLst>
          </c:dPt>
          <c:dPt>
            <c:idx val="3"/>
            <c:invertIfNegative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23C-4CC2-B7C7-0CC2DC2A199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BlazeFace
Detect</c:v>
                </c:pt>
                <c:pt idx="1">
                  <c:v>MobileFaceNet
Embedding</c:v>
                </c:pt>
                <c:pt idx="2">
                  <c:v>MiniFASNet
Liveness</c:v>
                </c:pt>
                <c:pt idx="3">
                  <c:v>Cosine
Matching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7.5</c:v>
                </c:pt>
                <c:pt idx="1">
                  <c:v>20</c:v>
                </c:pt>
                <c:pt idx="2">
                  <c:v>7.5</c:v>
                </c:pt>
                <c:pt idx="3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3C-4CC2-B7C7-0CC2DC2A19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D9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D9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0587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3657600" cy="320040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600000">
            <a:off x="-457200" y="3840480"/>
            <a:ext cx="3200400" cy="2286000"/>
          </a:xfrm>
          <a:prstGeom prst="rect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"/>
            <a:ext cx="137160" cy="13716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74320"/>
            <a:ext cx="137160" cy="13716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274320"/>
            <a:ext cx="137160" cy="13716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274320"/>
            <a:ext cx="137160" cy="13716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274320"/>
            <a:ext cx="137160" cy="13716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NETRA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Offline Facial Recognition &amp; Anti-Spoofing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 for NHAI Field Personnel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920240" cy="658368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79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Latency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97480" y="4251960"/>
            <a:ext cx="1920240" cy="658368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4279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97480" y="4572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Capable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4251960"/>
            <a:ext cx="1920240" cy="658368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4279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6.3MB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4572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95160" y="4251960"/>
            <a:ext cx="1920240" cy="658368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4279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7-Layer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95160" y="4572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Field Attendance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5087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" cy="15087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NHAI Field Reality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Highways Authority of India deploys thousands of field personnel across remote highway locations — many with zero or unreliable internet connectivity.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2651760" cy="17373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2971800"/>
            <a:ext cx="384048" cy="384048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4381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Systems Fail Offline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587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biometric &amp; cloud-based facial recognition require persistent internet. No connectivity = no attendance.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2880360"/>
            <a:ext cx="2651760" cy="17373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64992" y="2971800"/>
            <a:ext cx="384048" cy="384048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34381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Proxy Attendance / Buddy Punching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38587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 books and basic biometrics are easily spoofed — printed photos, screen replays, and proxy sign-ins go undetected.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2880360"/>
            <a:ext cx="2651760" cy="17373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2971800"/>
            <a:ext cx="384048" cy="384048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0" y="34381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Secure Local Fallback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8587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internet is available, data is stored insecurely with no encryption or tamper detection on the device.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234440"/>
            <a:ext cx="4206240" cy="15087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234440"/>
            <a:ext cx="64008" cy="15087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Solutions Cannot: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16276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 Authenticate without internet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 Detect photo/video spoof attacks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 Encrypt data locally at rest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 Auto-sync when connectivity resumes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 Netra Identity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fully offline-capable, AI-powered facial recognition and anti-spoofing attendance system — military-grade security that fits in your pocket."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1993392" cy="260604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48840"/>
            <a:ext cx="1993392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86000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On-Device AI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" y="3364992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3-model TFLite pipeline runs 100% locally. No cloud required for authentication.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2148840"/>
            <a:ext cx="1993392" cy="260604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2148840"/>
            <a:ext cx="1993392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2286000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87752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Anti-Spoofing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06040" y="3364992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+ active liveness detection blocks photos, screens, and replay attacks.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2148840"/>
            <a:ext cx="1993392" cy="260604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2148840"/>
            <a:ext cx="1993392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2286000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18304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AES-256 Encrypted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36592" y="3364992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 encrypts all biometric data at rest. Keys stored in OS Keychain.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57416" y="2148840"/>
            <a:ext cx="1993392" cy="260604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57416" y="2148840"/>
            <a:ext cx="199339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2286000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☁️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48856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Cloud Sync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67144" y="3364992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sync to AWS S3 on connectivity restore with exponential backoff.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React Native (Expo) · TFLite via JSI Bridge · AWS Serverless Backend · Cross-Platform iOS + Android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5303520" cy="352044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9844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MOBILE DEVICE  (Edge)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286000" cy="2651760"/>
          </a:xfrm>
          <a:prstGeom prst="rect">
            <a:avLst/>
          </a:prstGeom>
          <a:solidFill>
            <a:srgbClr val="09183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37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PIPELINE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084832"/>
            <a:ext cx="2103120" cy="594360"/>
          </a:xfrm>
          <a:prstGeom prst="rect">
            <a:avLst/>
          </a:prstGeom>
          <a:solidFill>
            <a:srgbClr val="0D204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084832"/>
            <a:ext cx="54864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214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BlazeFace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39572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229KB · Face Detection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816352"/>
            <a:ext cx="2103120" cy="594360"/>
          </a:xfrm>
          <a:prstGeom prst="rect">
            <a:avLst/>
          </a:prstGeom>
          <a:solidFill>
            <a:srgbClr val="0D204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816352"/>
            <a:ext cx="54864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8529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MobileFaceNet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12724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5.94MB · Embeddings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3547872"/>
            <a:ext cx="2103120" cy="594360"/>
          </a:xfrm>
          <a:prstGeom prst="rect">
            <a:avLst/>
          </a:prstGeom>
          <a:solidFill>
            <a:srgbClr val="0D204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547872"/>
            <a:ext cx="54864" cy="5943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5844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MiniFASNet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85876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156KB · Anti-Spoof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0" y="1691640"/>
            <a:ext cx="2514600" cy="2651760"/>
          </a:xfrm>
          <a:prstGeom prst="rect">
            <a:avLst/>
          </a:prstGeom>
          <a:solidFill>
            <a:srgbClr val="09183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6080" y="17373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17520" y="2084832"/>
            <a:ext cx="2331720" cy="594360"/>
          </a:xfrm>
          <a:prstGeom prst="rect">
            <a:avLst/>
          </a:prstGeom>
          <a:solidFill>
            <a:srgbClr val="0D204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017520" y="2084832"/>
            <a:ext cx="54864" cy="59436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21214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StorageService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72968" y="23957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 AES-256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17520" y="2816352"/>
            <a:ext cx="2331720" cy="594360"/>
          </a:xfrm>
          <a:prstGeom prst="rect">
            <a:avLst/>
          </a:prstGeom>
          <a:solidFill>
            <a:srgbClr val="0D204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017520" y="2816352"/>
            <a:ext cx="54864" cy="5943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72968" y="28529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SecurityService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72968" y="31272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· SHA-256 · Keychain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017520" y="3547872"/>
            <a:ext cx="2331720" cy="594360"/>
          </a:xfrm>
          <a:prstGeom prst="rect">
            <a:avLst/>
          </a:prstGeom>
          <a:solidFill>
            <a:srgbClr val="0D204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017520" y="3547872"/>
            <a:ext cx="54864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2968" y="35844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SyncService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72968" y="38587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NetInfo · Exponential Backoff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15000" y="2697480"/>
            <a:ext cx="6400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25146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▶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96128" y="278892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Pull enrollments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629400" y="1234440"/>
            <a:ext cx="2286000" cy="352044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720840" y="12984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☁️  AWS CLOUD  (us-east-1)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20840" y="1719072"/>
            <a:ext cx="2103120" cy="658368"/>
          </a:xfrm>
          <a:prstGeom prst="rect">
            <a:avLst/>
          </a:prstGeom>
          <a:solidFill>
            <a:srgbClr val="09183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784848" y="17739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84848" y="20574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CORS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20840" y="2523744"/>
            <a:ext cx="2103120" cy="658368"/>
          </a:xfrm>
          <a:prstGeom prst="rect">
            <a:avLst/>
          </a:prstGeom>
          <a:solidFill>
            <a:srgbClr val="09183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784848" y="2578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Lambda (Node 18)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84848" y="286207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Sync Handler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20840" y="3328416"/>
            <a:ext cx="2103120" cy="658368"/>
          </a:xfrm>
          <a:prstGeom prst="rect">
            <a:avLst/>
          </a:prstGeom>
          <a:solidFill>
            <a:srgbClr val="09183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784848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Bucket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84848" y="366674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SSE-AES-256 Data Lake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4846320"/>
            <a:ext cx="8595360" cy="201168"/>
          </a:xfrm>
          <a:prstGeom prst="rect">
            <a:avLst/>
          </a:prstGeom>
          <a:solidFill>
            <a:srgbClr val="09183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11480" y="485546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→  Enrollment (5 angles)  →  MobileFaceNet Embeddings  →  SQLCipher DB  →  Liveness Challenge  →  Match (cosine ≥0.6)  →  Attendance Saved  →  AWS S3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3-Stage On-Device ML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1430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73152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94360" cy="594360"/>
          </a:xfrm>
          <a:prstGeom prst="ellipse">
            <a:avLst/>
          </a:prstGeom>
          <a:solidFill>
            <a:srgbClr val="00A896">
              <a:alpha val="20000"/>
            </a:srgbClr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BlazeFace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13716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229 KB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175564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66360" y="13716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128×128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6360" y="175564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0" y="13716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5-10ms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5564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029968"/>
            <a:ext cx="7223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model scans frames at &gt;15fps. 896 classification anchors with custom sigmoid activation. Detects face bounding box for downstream crops.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60320"/>
            <a:ext cx="8412480" cy="11430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560320"/>
            <a:ext cx="73152" cy="1143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697480"/>
            <a:ext cx="594360" cy="594360"/>
          </a:xfrm>
          <a:prstGeom prst="ellipse">
            <a:avLst/>
          </a:prstGeom>
          <a:solidFill>
            <a:srgbClr val="00D4FF">
              <a:alpha val="20000"/>
            </a:srgbClr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26517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MobileFaceNet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035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Embedding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265176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5.94 MB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49040" y="303580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66360" y="265176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112×112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303580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0" y="265176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15-25ms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303580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71600" y="3310128"/>
            <a:ext cx="7223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 generates a 128-dimensional embedding vector per face. Normalized via (pixel/127.5)–1. Stored with SHA-256 checksum integrity.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840480"/>
            <a:ext cx="8412480" cy="11430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840480"/>
            <a:ext cx="73152" cy="11430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3977640"/>
            <a:ext cx="594360" cy="594360"/>
          </a:xfrm>
          <a:prstGeom prst="ellipse">
            <a:avLst/>
          </a:prstGeom>
          <a:solidFill>
            <a:srgbClr val="FFB300">
              <a:alpha val="20000"/>
            </a:srgbClr>
          </a:solidFill>
          <a:ln w="15240">
            <a:solidFill>
              <a:srgbClr val="FFB3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977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71600" y="3931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MiniFASNet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" y="4315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49040" y="39319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156 KB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749040" y="43159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66360" y="39319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80×80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66360" y="43159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3680" y="39319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5-10ms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83680" y="43159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71600" y="4590288"/>
            <a:ext cx="7223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CelebA-Spoof dataset. ImageNet normalization. 3-class softmax (real vs. 2 spoof types). Score index[1] = real face probability.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5166360"/>
            <a:ext cx="8412480" cy="320040"/>
          </a:xfrm>
          <a:prstGeom prst="rect">
            <a:avLst/>
          </a:prstGeom>
          <a:solidFill>
            <a:srgbClr val="09183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02920" y="5193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ML Payload: 6.3 MB  ·  Total Pipeline Latency: ~42ms  ·  RAM Usage: ~45 MB  ·  JSI C++ Bridge (zero JS serialization overhead)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128-Dim Embedding &amp; Cosine Matching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292608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" cy="2926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ENROLLMENT — 5-Angle Capture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71600" y="1737360"/>
            <a:ext cx="594360" cy="59436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25880" y="237744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03120" y="1737360"/>
            <a:ext cx="594360" cy="59436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237744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834640" y="1737360"/>
            <a:ext cx="594360" cy="59436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88920" y="237744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566160" y="1737360"/>
            <a:ext cx="594360" cy="59436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237744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94360" y="2743200"/>
            <a:ext cx="3749040" cy="36576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Vision Camera captures JPEG at 1280×720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Skia GPU: center crop → resize to 112×112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Normalize: (pixel / 127.5) − 1.0 → range [−1, 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MobileFaceNet inference → 128-dim float vector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Validate (no NaN / all-zeros) + SHA-256 checksum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Store in SQLCipher DB · 5 embeddings per person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234440"/>
            <a:ext cx="4206240" cy="292608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234440"/>
            <a:ext cx="64008" cy="2926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2984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— Cosine Matching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1719072"/>
            <a:ext cx="3886200" cy="640080"/>
          </a:xfrm>
          <a:prstGeom prst="rect">
            <a:avLst/>
          </a:prstGeom>
          <a:solidFill>
            <a:srgbClr val="09183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1719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 = (A · B) / (|A| × |B|)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92040" y="2450592"/>
            <a:ext cx="3840480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camera generates embedding every ~1 second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Compare against ALL enrolled embeddings in local 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Best-match algorithm: highest similarity across all angles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Threshold: Cosine Similarity ≥ 0.6 → Identity Confirmed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Scale-invariant: works regardless of embedding magnitude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network needed — all matching happens on-device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279392"/>
            <a:ext cx="2011680" cy="5943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42976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128-dim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57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Vector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14600" y="4279392"/>
            <a:ext cx="2011680" cy="5943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514600" y="42976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0.6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1460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Threshold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4279392"/>
            <a:ext cx="2011680" cy="5943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663440" y="42976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angles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6344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 Enrolled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12280" y="4279392"/>
            <a:ext cx="2011680" cy="5943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12280" y="42976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122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Refresh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Passive + Active Liveness Detection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315468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" cy="31546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PASSIVE LIVENESS — MiniFASNet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CelebA-Spoof dataset. Detects texture anomalies in printed photos and screen displays.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2286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ImageNet (not [-1,1])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(R,G,B):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2606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0.485 · 0.456 · 0.406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(R,G,B):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2926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0.229 · 0.224 · 0.225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246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32461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(spoof₁, real, spoof₂)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Score: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3566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softmax[index 1] × 100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886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3886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≥ 60% over 5 seconds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234440"/>
            <a:ext cx="4206240" cy="315468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34440"/>
            <a:ext cx="64008" cy="31546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2984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👁️  ACTIVE LIVENESS — Blink 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challenge prompts user to blink. Continuous MiniFASNet scoring samples every frame.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2304288"/>
            <a:ext cx="201168" cy="20116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2860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Duration: 5 seconds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624328"/>
            <a:ext cx="201168" cy="20116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606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Sampling: Continuous per-frame scoring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944368"/>
            <a:ext cx="201168" cy="20116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926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Average score across all frames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264408"/>
            <a:ext cx="201168" cy="20116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246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prompt shown to user at ~2s mark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584448"/>
            <a:ext cx="201168" cy="20116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5661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→ Spoof Alert + Re-attempt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904488"/>
            <a:ext cx="201168" cy="20116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38862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→ Attendance logged to SQLCipher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480560"/>
            <a:ext cx="8412480" cy="5943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507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Threats Blocked: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0" y="4526280"/>
            <a:ext cx="1207008" cy="457200"/>
          </a:xfrm>
          <a:prstGeom prst="rect">
            <a:avLst/>
          </a:prstGeom>
          <a:solidFill>
            <a:srgbClr val="FF4D6D">
              <a:alpha val="20000"/>
            </a:srgbClr>
          </a:solidFill>
          <a:ln w="10160">
            <a:solidFill>
              <a:srgbClr val="FF4D6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452628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Printed Photo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11880" y="4526280"/>
            <a:ext cx="1207008" cy="457200"/>
          </a:xfrm>
          <a:prstGeom prst="rect">
            <a:avLst/>
          </a:prstGeom>
          <a:solidFill>
            <a:srgbClr val="FF4D6D">
              <a:alpha val="20000"/>
            </a:srgbClr>
          </a:solidFill>
          <a:ln w="10160">
            <a:solidFill>
              <a:srgbClr val="FF4D6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11880" y="452628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Screen Replay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37760" y="4526280"/>
            <a:ext cx="1207008" cy="457200"/>
          </a:xfrm>
          <a:prstGeom prst="rect">
            <a:avLst/>
          </a:prstGeom>
          <a:solidFill>
            <a:srgbClr val="FF4D6D">
              <a:alpha val="20000"/>
            </a:srgbClr>
          </a:solidFill>
          <a:ln w="10160">
            <a:solidFill>
              <a:srgbClr val="FF4D6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452628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Video Loop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63640" y="4526280"/>
            <a:ext cx="1207008" cy="457200"/>
          </a:xfrm>
          <a:prstGeom prst="rect">
            <a:avLst/>
          </a:prstGeom>
          <a:solidFill>
            <a:srgbClr val="FF4D6D">
              <a:alpha val="20000"/>
            </a:srgbClr>
          </a:solidFill>
          <a:ln w="10160">
            <a:solidFill>
              <a:srgbClr val="FF4D6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452628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Static Mask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89520" y="4526280"/>
            <a:ext cx="1207008" cy="457200"/>
          </a:xfrm>
          <a:prstGeom prst="rect">
            <a:avLst/>
          </a:prstGeom>
          <a:solidFill>
            <a:srgbClr val="FF4D6D">
              <a:alpha val="20000"/>
            </a:srgbClr>
          </a:solidFill>
          <a:ln w="10160">
            <a:solidFill>
              <a:srgbClr val="FF4D6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452628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Deepfake Injection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+ SYNC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Offline-First Architecture &amp; Auto Cloud Sync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29718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" cy="2971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SQLCipher Database Schema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3840480" cy="713232"/>
          </a:xfrm>
          <a:prstGeom prst="rect">
            <a:avLst/>
          </a:prstGeom>
          <a:solidFill>
            <a:srgbClr val="09183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719072"/>
            <a:ext cx="54864" cy="7132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556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Personnel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02082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D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name · role · embeddings (128-dim×5) · sha256_checksum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840480" cy="713232"/>
          </a:xfrm>
          <a:prstGeom prst="rect">
            <a:avLst/>
          </a:prstGeom>
          <a:solidFill>
            <a:srgbClr val="09183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42032"/>
            <a:ext cx="54864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786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AttendanceLog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28437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D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personnel_id (FK) · timestamp · result · synced flag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364992"/>
            <a:ext cx="3840480" cy="713232"/>
          </a:xfrm>
          <a:prstGeom prst="rect">
            <a:avLst/>
          </a:prstGeom>
          <a:solidFill>
            <a:srgbClr val="09183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364992"/>
            <a:ext cx="54864" cy="7132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015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SyncQueue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36667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D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record_type · payload_json · retry_count · created_at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251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AES-256 SQLCipher + PBKDF2 Key Derivation + SHA-256 Embedding Integrity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234440"/>
            <a:ext cx="4206240" cy="29718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34440"/>
            <a:ext cx="64008" cy="2971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28016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☁️  SyncService — Auto Cloud Sync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171907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NetInfo listener detects connectivity restore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208483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upload: 20 records per HTTP request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245059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backoff: 1s → 2s → 4s on failure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281635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timestamps prevent data overwrites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1821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⬇️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remote enrollments → bi-directional sync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354787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🗑️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Auto-purge synced records older than 24 hours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40050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API Gateway → Lambda (Node 18) → S3 (SSE-S3 AES-256) · us-east-1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480560"/>
            <a:ext cx="2011680" cy="5943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4480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  Works 100% offline forever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14600" y="4480560"/>
            <a:ext cx="2011680" cy="5943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606040" y="4480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Auto-sync on connectivity restore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4480560"/>
            <a:ext cx="2011680" cy="5943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54880" y="4480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↕️  Bi-directional device sync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12280" y="4480560"/>
            <a:ext cx="2011680" cy="5943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903720" y="4480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Zero plaintext data stored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7-Layer Security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6858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402336" cy="402336"/>
          </a:xfrm>
          <a:prstGeom prst="ellipse">
            <a:avLst/>
          </a:prstGeom>
          <a:solidFill>
            <a:srgbClr val="FF4D6D">
              <a:alpha val="25000"/>
            </a:srgbClr>
          </a:solidFill>
          <a:ln w="15240">
            <a:solidFill>
              <a:srgbClr val="FF4D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07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D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87552" y="13075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D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Integrity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87552" y="158191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JailMonkey root/jailbreak detection · mock GPS injection check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4114800" cy="6858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85416"/>
            <a:ext cx="402336" cy="402336"/>
          </a:xfrm>
          <a:prstGeom prst="ellipse">
            <a:avLst/>
          </a:prstGeom>
          <a:solidFill>
            <a:srgbClr val="FFB300">
              <a:alpha val="25000"/>
            </a:srgbClr>
          </a:solidFill>
          <a:ln w="1524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85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87552" y="21122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Derivation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87552" y="238658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(1,000 iterations) from UUID + app secret → encryption key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43784"/>
            <a:ext cx="4114800" cy="6858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90088"/>
            <a:ext cx="402336" cy="402336"/>
          </a:xfrm>
          <a:prstGeom prst="ellipse">
            <a:avLst/>
          </a:prstGeom>
          <a:solidFill>
            <a:srgbClr val="00A896">
              <a:alpha val="25000"/>
            </a:srgbClr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90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87552" y="29169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Key Storage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87552" y="319125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Keystore / iOS Keychain for encryption key persistence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648456"/>
            <a:ext cx="4114800" cy="6858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94760"/>
            <a:ext cx="402336" cy="402336"/>
          </a:xfrm>
          <a:prstGeom prst="ellipse">
            <a:avLst/>
          </a:prstGeom>
          <a:solidFill>
            <a:srgbClr val="00D4FF">
              <a:alpha val="25000"/>
            </a:srgbClr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87552" y="37216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Encryption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87552" y="399592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 AES-256 encrypts entire database file at rest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1234440"/>
            <a:ext cx="4114800" cy="6858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380744"/>
            <a:ext cx="402336" cy="402336"/>
          </a:xfrm>
          <a:prstGeom prst="ellipse">
            <a:avLst/>
          </a:prstGeom>
          <a:solidFill>
            <a:srgbClr val="00E676">
              <a:alpha val="25000"/>
            </a:srgbClr>
          </a:solidFill>
          <a:ln w="15240">
            <a:solidFill>
              <a:srgbClr val="00E6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3807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22392" y="13075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 Integrity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22392" y="158191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checksum on each embedding; tampered data rejected on read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039112"/>
            <a:ext cx="4114800" cy="6858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2185416"/>
            <a:ext cx="402336" cy="402336"/>
          </a:xfrm>
          <a:prstGeom prst="ellipse">
            <a:avLst/>
          </a:prstGeom>
          <a:solidFill>
            <a:srgbClr val="00A896">
              <a:alpha val="25000"/>
            </a:srgbClr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185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22392" y="21122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 Security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22392" y="238658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(TLS 1.2+) via AWS API Gateway for all sync operations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2843784"/>
            <a:ext cx="4114800" cy="6858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2990088"/>
            <a:ext cx="402336" cy="402336"/>
          </a:xfrm>
          <a:prstGeom prst="ellipse">
            <a:avLst/>
          </a:prstGeom>
          <a:solidFill>
            <a:srgbClr val="FFB300">
              <a:alpha val="25000"/>
            </a:srgbClr>
          </a:solidFill>
          <a:ln w="15240">
            <a:solidFill>
              <a:srgbClr val="FFB3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990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L7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22392" y="29169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Encryption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22392" y="319125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SSE-S3 AES-256 server-side encryption for stored records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solidFill>
            <a:srgbClr val="09183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2920" y="48737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model: Device → Key → Crypto → DB → Embeddings → Network → Cloud — every layer independently verified and encrypted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&amp; Optimization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2011680" cy="96012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07008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42ms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801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Latency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207008"/>
            <a:ext cx="2011680" cy="96012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207008"/>
            <a:ext cx="201168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261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45MB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1801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Usage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07008"/>
            <a:ext cx="2011680" cy="96012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07008"/>
            <a:ext cx="201168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261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6.3MB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1801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ML Models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207008"/>
            <a:ext cx="2011680" cy="96012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207008"/>
            <a:ext cx="201168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261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12280" y="1801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Capable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65760" y="2331720"/>
          <a:ext cx="5029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577840" y="2331720"/>
            <a:ext cx="3337560" cy="233172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2331720"/>
            <a:ext cx="64008" cy="2331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0"/>
          <p:cNvSpPr/>
          <p:nvPr/>
        </p:nvSpPr>
        <p:spPr>
          <a:xfrm>
            <a:off x="5779008" y="23957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Optimizations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779008" y="27889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JSI C++ Bridge — zero JS serialization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Single model load, shared via Context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400ms frame throttle + mutex lock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arm64-v8a split ABI (−60% native libs)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Hermes pre-compiled JS bytecode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ProGuard R8 dead code elimination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Skia GPU-accelerated image processing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029968" cy="35661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029968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1755648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0.81.5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" y="2212848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~54.0.0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2670048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^5.9.3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3127248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v6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3584448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Camera 4.7.3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4041648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023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Skia 2.2.12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2029968" cy="35661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42032" y="1234440"/>
            <a:ext cx="2029968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132588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06624" y="1755648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9504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react-native-fast-tflite (JSI)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06624" y="2212848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BlazeFace · 229 KB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06624" y="2670048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9504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· 5.94 MB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06624" y="3127248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MiniFASNet · 156 KB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06624" y="3584448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9504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vision-camera-resize-plugin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18304" y="1234440"/>
            <a:ext cx="2029968" cy="35661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18304" y="1234440"/>
            <a:ext cx="2029968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132588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&amp; Cloud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82896" y="1755648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65776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Node.js 18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82896" y="2212848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5776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82896" y="2670048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(us-east-1)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82896" y="3127248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65776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Framework IaC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82896" y="3584448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65776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HTTP client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94576" y="1234440"/>
            <a:ext cx="2029968" cy="35661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94576" y="1234440"/>
            <a:ext cx="2029968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86016" y="132588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Storage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059168" y="1755648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 AES-256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059168" y="2212848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42048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react-native-keychain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059168" y="2670048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42048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CryptoJS PBKDF2 + SHA-256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059168" y="3127248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42048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JailMonkey (root detection)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059168" y="3584448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42048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v4 identifiers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solidFill>
            <a:srgbClr val="091830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0292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Hermes Engine  ·  ProGuard R8  ·  Split ABI (arm64-v8a)  ·  PNG Crunching  ·  React Native NetInfo  ·  Serverless IaC on AWS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Challenges Solved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133088" cy="9144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6400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350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TFLite on React Native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733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react-native-fast-tflite JSI bridge — C++ native inference, zero bridge serialization overhead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261872"/>
            <a:ext cx="4133088" cy="9144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261872"/>
            <a:ext cx="64008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350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GPU Image Preprocessing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83480" y="16733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Skia for GPU-accelerated center crop, resize, and pixel extraction without native modules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13432"/>
            <a:ext cx="4133088" cy="9144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13432"/>
            <a:ext cx="64008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865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BlazeFace Output Parsing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7249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sigmoid on 896 classification anchors; manual parsing of regressor (14,336) + classifier tensors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313432"/>
            <a:ext cx="4133088" cy="9144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13432"/>
            <a:ext cx="64008" cy="9144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3865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MiniFASNet Normalization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83480" y="27249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discovered RGB ImageNet normalization yields correct results — not the [-1,1] range used by face models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64992"/>
            <a:ext cx="4133088" cy="9144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64992"/>
            <a:ext cx="6400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38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Offline-First + Sync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37764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schema with SyncQueue + FK constraints; bi-directional sync with serial timestamps preventing overwrites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364992"/>
            <a:ext cx="4133088" cy="9144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364992"/>
            <a:ext cx="64008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438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Database Encryption in RN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83480" y="37764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 via react-native-sqlite-storage with PBKDF2-derived key; graceful fallback for non-Keychain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 &amp;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16002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6517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7160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716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5488" y="1709928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📍  GPS Location Tagging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121408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geo-coordinates to each attendance record for highway site verification and compliance.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16002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651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37160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3716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v1.2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10128" y="1709928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SSL Certificate Pinning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121408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API Gateway certificate to prevent MITM proxy attacks.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651760" cy="16002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234440"/>
            <a:ext cx="265176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137160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3716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v1.3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44768" y="1709928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Admin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4768" y="2121408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dashboard for HR managers to view and analyze synced attendance records.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2651760" cy="16002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17520"/>
            <a:ext cx="265176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31546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1546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v2.0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493008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🧬  3D Depth Liveness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3904488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light / ToF sensor depth data for physical spoof resistance.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3017520"/>
            <a:ext cx="2651760" cy="16002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017520"/>
            <a:ext cx="2651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31546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1546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v2.1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10128" y="3493008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OTA Model Updates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10128" y="3904488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Over-the-air TFLite model updates via S3 — improve accuracy without app store releases.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3017520"/>
            <a:ext cx="2651760" cy="160020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3017520"/>
            <a:ext cx="26517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44768" y="31546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31546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v2.2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44768" y="3493008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📡  Bluetooth P2P Sync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44768" y="3904488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Inter-device sync via Bluetooth/NFC — share enrollments even with no internet.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6400800" y="-274320"/>
            <a:ext cx="3200400" cy="2743200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NETRA IDENTITY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Military-Grade Identity Verification. Pocket-Sized.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993392"/>
            <a:ext cx="256032" cy="256032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93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0116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3-model on-device ML pipeline — 100% offline authentication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56032" cy="256032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2395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+ active liveness detection — photo &amp; replay attacks blocked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256032" cy="256032"/>
          </a:xfrm>
          <a:prstGeom prst="ellipse">
            <a:avLst/>
          </a:prstGeom>
          <a:solidFill>
            <a:srgbClr val="FFB300">
              <a:alpha val="3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61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77977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128-dim MobileFaceNet embeddings — cosine similarity matching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256032" cy="256032"/>
          </a:xfrm>
          <a:prstGeom prst="ellipse">
            <a:avLst/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45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3163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SQLCipher + PBKDF2 + SHA-256 — 7-layer security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256032" cy="256032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29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35478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42ms pipeline · 45MB RAM · 6.3MB models — ultra-lightweight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913632"/>
            <a:ext cx="256032" cy="256032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13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931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AWS sync + bi-directional enrollment — serverless scalable backend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407408"/>
            <a:ext cx="8412480" cy="594360"/>
          </a:xfrm>
          <a:prstGeom prst="rect">
            <a:avLst/>
          </a:prstGeom>
          <a:solidFill>
            <a:srgbClr val="112244"/>
          </a:solidFill>
          <a:ln w="10160">
            <a:solidFill>
              <a:srgbClr val="0099B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425696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"Netra Identity proves that military-grade identity verification doesn't require a data center — it fits in your pocket."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1680</Words>
  <Application>Microsoft Office PowerPoint</Application>
  <PresentationFormat>On-screen Show (16:9)</PresentationFormat>
  <Paragraphs>334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NETRA IDENTITY — Hackathon 7.0</dc:title>
  <dc:subject>PptxGenJS Presentation</dc:subject>
  <dc:creator>PptxGenJS</dc:creator>
  <cp:lastModifiedBy>kajaresahil05@outlook.com</cp:lastModifiedBy>
  <cp:revision>1</cp:revision>
  <dcterms:created xsi:type="dcterms:W3CDTF">2026-06-05T09:08:34Z</dcterms:created>
  <dcterms:modified xsi:type="dcterms:W3CDTF">2026-06-05T09:14:51Z</dcterms:modified>
</cp:coreProperties>
</file>